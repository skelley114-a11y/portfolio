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7F5FC4-B762-454D-8DB0-A798A0CB53F6}">
  <a:tblStyle styleId="{2A7F5FC4-B762-454D-8DB0-A798A0CB53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Roboto-bold.fntdata"/><Relationship Id="rId10" Type="http://schemas.openxmlformats.org/officeDocument/2006/relationships/slide" Target="slides/slide4.xml"/><Relationship Id="rId21" Type="http://schemas.openxmlformats.org/officeDocument/2006/relationships/font" Target="fonts/Roboto-regular.fntdata"/><Relationship Id="rId13" Type="http://schemas.openxmlformats.org/officeDocument/2006/relationships/slide" Target="slides/slide7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6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8e856ef7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8e856ef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6531501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6531501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6531501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6531501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6531501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6531501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8b53fe05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8b53fe05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8b53fe050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8b53fe05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8b53fe050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8b53fe050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8b53fe050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8b53fe05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8b53fe050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8b53fe050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8b53fe050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8b53fe050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8b53fe050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8b53fe050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6531501a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6531501a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8e856ef7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8e856ef7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8b53fe05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8b53fe05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n riding bicycle in urban park (Provided by Getty Images)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715681"/>
            <a:ext cx="9144003" cy="614808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41575" y="149450"/>
            <a:ext cx="453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Difference in bike usage between customers and subscribers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2650" y="3829975"/>
            <a:ext cx="218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Analysis by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Shawn Kelley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analyzing the bike share data from Chicago determine how customers and subscribers utilize the bike share differently around Chicago.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Subscriber - Users who pay a monthly subscription for access to the service.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Customer - Users who pay each time the use the service.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Agenda</a:t>
            </a:r>
            <a:endParaRPr sz="232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are people using bike share and the difference in times between customers and subscribers.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Days of the week customers and subscribers use bike share.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Length of time customers and </a:t>
            </a:r>
            <a:r>
              <a:rPr lang="en"/>
              <a:t>subscribers</a:t>
            </a:r>
            <a:r>
              <a:rPr lang="en"/>
              <a:t> use their bikes when renting from the bike share.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popular routes taken by customers and subscribers.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99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was sourced from Chicago’s divvy bike data set, specifically the Q1 data for both 2019 and 2020.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r>
              <a:rPr lang="en"/>
              <a:t> the data was fairly simple, a few columns needed to have their names adjusted to make it easier to work with and make the columns more defined.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Performed basic analysis on the 2019 dataset, in sheets, to more </a:t>
            </a:r>
            <a:r>
              <a:rPr lang="en"/>
              <a:t>closely</a:t>
            </a:r>
            <a:r>
              <a:rPr lang="en"/>
              <a:t> </a:t>
            </a:r>
            <a:r>
              <a:rPr lang="en"/>
              <a:t>resemble</a:t>
            </a:r>
            <a:r>
              <a:rPr lang="en"/>
              <a:t> that of the 2020 dataset.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SQL was then used to analyze the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results from the analysis were then imported to Sheets as pivot tables where visuals of the data were created.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Times bikes were rented 2019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Subscribers to the city bike share are most likely to use them for commuting to and from work, as well as travel for lunch.</a:t>
            </a:r>
            <a:endParaRPr/>
          </a:p>
        </p:txBody>
      </p:sp>
      <p:pic>
        <p:nvPicPr>
          <p:cNvPr id="83" name="Google Shape;83;p17" title="Customer rent time 20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2091475"/>
            <a:ext cx="4006569" cy="247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Subscriber Rent Tim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8275" y="2040675"/>
            <a:ext cx="3972825" cy="25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Times bikes were rented 2020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Non Subscribers are more likely to rent their bikes</a:t>
            </a:r>
            <a:r>
              <a:rPr lang="en"/>
              <a:t> in the afternoon.</a:t>
            </a:r>
            <a:endParaRPr/>
          </a:p>
        </p:txBody>
      </p:sp>
      <p:pic>
        <p:nvPicPr>
          <p:cNvPr id="91" name="Google Shape;91;p18" title="Subscriber Rent Time 20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5" y="1997125"/>
            <a:ext cx="4159176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Customer rented hour 20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450" y="2091500"/>
            <a:ext cx="4006551" cy="24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bikes rented per day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Subscribers use the bike share during the weekdays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Non-subscribers use the bike share more frequently on the weekends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776" y="2390380"/>
            <a:ext cx="4159176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294" y="2429700"/>
            <a:ext cx="4095576" cy="25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bike ride length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While subscribers rent more bikes than customers, customers ride the bikes for longer periods of time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851" y="2571753"/>
            <a:ext cx="4159176" cy="2571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5026" y="2571750"/>
            <a:ext cx="4159182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Most Popular Routes for 2019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1423950" y="2110050"/>
            <a:ext cx="15474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Subscribers</a:t>
            </a:r>
            <a:endParaRPr/>
          </a:p>
        </p:txBody>
      </p:sp>
      <p:graphicFrame>
        <p:nvGraphicFramePr>
          <p:cNvPr id="115" name="Google Shape;115;p21"/>
          <p:cNvGraphicFramePr/>
          <p:nvPr/>
        </p:nvGraphicFramePr>
        <p:xfrm>
          <a:off x="50604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{2A7F5FC4-B762-454D-8DB0-A798A0CB53F6}</a:tableStyleId>
              </a:tblPr>
              <a:tblGrid>
                <a:gridCol w="1885950"/>
                <a:gridCol w="18859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Lake Shore Dr &amp; Monroe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Streeter Dr &amp; Grand Ave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Lake Shore Dr &amp; Monroe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Lake Shore Dr &amp; Monroe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Streeter Dr &amp; Grand Ave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Streeter Dr &amp; Grand Ave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Shedd Aquarium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Streeter Dr &amp; Grand Ave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Shedd Aquarium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Millennium Park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Google Shape;116;p21"/>
          <p:cNvGraphicFramePr/>
          <p:nvPr/>
        </p:nvGraphicFramePr>
        <p:xfrm>
          <a:off x="3117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{2A7F5FC4-B762-454D-8DB0-A798A0CB53F6}</a:tableStyleId>
              </a:tblPr>
              <a:tblGrid>
                <a:gridCol w="1885950"/>
                <a:gridCol w="18859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Michigan Ave &amp; Washington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Clinton St &amp; Washington Blvd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Columbus Dr &amp; Randolph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Clinton St &amp; Washington Blvd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Michigan Ave &amp; Washington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Canal St &amp; Adams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Canal St &amp; Madison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Michigan Ave &amp; Washington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Canal St &amp; Adams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Michigan Ave &amp; Washington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21"/>
          <p:cNvSpPr txBox="1"/>
          <p:nvPr/>
        </p:nvSpPr>
        <p:spPr>
          <a:xfrm>
            <a:off x="6230700" y="2110050"/>
            <a:ext cx="14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Customers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311700" y="1017725"/>
            <a:ext cx="6459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Subscribers typically go from one spot of downtown to another spot of </a:t>
            </a:r>
            <a:r>
              <a:rPr lang="en" sz="1800">
                <a:solidFill>
                  <a:schemeClr val="dk2"/>
                </a:solidFill>
              </a:rPr>
              <a:t>downtown. The paths that subscribers take do not go near or on the lakefront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Most Popular Routes for 2020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1492350" y="2080338"/>
            <a:ext cx="1410600" cy="4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Subscriber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6171200" y="2095200"/>
            <a:ext cx="123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Customer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26" name="Google Shape;126;p22"/>
          <p:cNvGraphicFramePr/>
          <p:nvPr/>
        </p:nvGraphicFramePr>
        <p:xfrm>
          <a:off x="49026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{2A7F5FC4-B762-454D-8DB0-A798A0CB53F6}</a:tableStyleId>
              </a:tblPr>
              <a:tblGrid>
                <a:gridCol w="1885950"/>
                <a:gridCol w="18859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HQ QR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HQ QR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Lake Shore Dr &amp; Monroe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Lake Shore Dr &amp; Monroe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Lake Shore Dr &amp; Monroe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Streeter Dr &amp; Grand Ave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Shedd Aquarium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Streeter Dr &amp; Grand Ave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Streeter Dr &amp; Grand Ave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Streeter Dr &amp; Grand Ave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Google Shape;127;p22"/>
          <p:cNvGraphicFramePr/>
          <p:nvPr/>
        </p:nvGraphicFramePr>
        <p:xfrm>
          <a:off x="3117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{2A7F5FC4-B762-454D-8DB0-A798A0CB53F6}</a:tableStyleId>
              </a:tblPr>
              <a:tblGrid>
                <a:gridCol w="1885950"/>
                <a:gridCol w="18859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Canal St &amp; Adams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Michigan Ave &amp; Washington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A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Michigan Ave &amp; Washington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Clinton St &amp; Washington Blvd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Ellis Ave &amp; 60th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Ave &amp; 57th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University Ave &amp; 57th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Ellis Ave &amp; 60th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Canal St &amp; Madison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Michigan Ave &amp; Washington St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22"/>
          <p:cNvSpPr txBox="1"/>
          <p:nvPr/>
        </p:nvSpPr>
        <p:spPr>
          <a:xfrm>
            <a:off x="311700" y="1017725"/>
            <a:ext cx="72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Customers are more likely to use the bikes to travel to a central location from various attractions in the city. The number one path is along the lakefront of the city. Most likely ending near Navy Pier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Road Most Traveled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326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2020 this became the most frequently traveled route by customers who do not subscribe when they rent a bike on Sundays.</a:t>
            </a:r>
            <a:endParaRPr/>
          </a:p>
        </p:txBody>
      </p:sp>
      <p:pic>
        <p:nvPicPr>
          <p:cNvPr id="135" name="Google Shape;135;p23" title="Most frequently traveled route sundays 2020.png"/>
          <p:cNvPicPr preferRelativeResize="0"/>
          <p:nvPr/>
        </p:nvPicPr>
        <p:blipFill rotWithShape="1">
          <a:blip r:embed="rId3">
            <a:alphaModFix/>
          </a:blip>
          <a:srcRect b="16257" l="63656" r="0" t="8616"/>
          <a:stretch/>
        </p:blipFill>
        <p:spPr>
          <a:xfrm>
            <a:off x="4215423" y="35698"/>
            <a:ext cx="2862775" cy="504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analyzing the data we can see that customers are more likely to use the bike share for recreational activities in the afternoons.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Subscriber are most likely going to be people who use the bike share to commute to and from work and a few who use the bikes during their lunch hours.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is no data for a user ID tag so we cannot track individual subscriber habits.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There is no financial data so we cannot track repeat customers.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Question mark sign. isolated white (Provided by Getty Images)"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6" title="2020 q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372" y="2257075"/>
            <a:ext cx="5852624" cy="288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 title="Pie chart Bicyclist data q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"/>
            <a:ext cx="5852626" cy="290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 txBox="1"/>
          <p:nvPr/>
        </p:nvSpPr>
        <p:spPr>
          <a:xfrm>
            <a:off x="346050" y="556025"/>
            <a:ext cx="7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2019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3641325" y="2904050"/>
            <a:ext cx="7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2020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5852625" y="353900"/>
            <a:ext cx="2948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2019 subscribers were more likely to return their bikes to the depots, this flipped in 2020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